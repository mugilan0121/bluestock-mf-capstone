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6" r:id="rId13"/>
    <p:sldId id="270" r:id="rId14"/>
    <p:sldId id="265" r:id="rId15"/>
    <p:sldId id="269" r:id="rId16"/>
  </p:sldIdLst>
  <p:sldSz cx="9144000" cy="5143500" type="screen16x9"/>
  <p:notesSz cx="5143500" cy="9144000"/>
  <p:embeddedFontLst>
    <p:embeddedFont>
      <p:font typeface="Tomorrow" pitchFamily="2" charset="0"/>
      <p:regular r:id="rId18"/>
      <p:bold r:id="rId19"/>
    </p:embeddedFont>
    <p:embeddedFont>
      <p:font typeface="Tomorrow Light" pitchFamily="2" charset="0"/>
      <p:regular r:id="rId20"/>
    </p:embeddedFont>
    <p:embeddedFont>
      <p:font typeface="Tomorrow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79" y="2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1720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5E09B-2A65-2E0B-8531-4202131D1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AB6ED-1636-B134-D709-EE2325D1F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92F95D-FA20-2BAB-7B11-1A4112A55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106398-2BB5-A6A1-2158-A37030039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51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15CC6-CDA7-B3AB-89E7-BE5D2F947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BDEF00-DA4F-6B05-F910-63F0B7B1CB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3F8369-1A57-F8E4-F8B6-D4796AC09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6A2CD-8310-1ED2-66A6-0547A324A0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298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7419-2E45-6591-F24C-CD7BE161B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294B7-2928-CA40-A17D-7BDCBF0CC6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87A979-8F69-F13C-2E88-F2C5039C5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15034-A359-06CF-3626-4D11EEA360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4099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B69B9-04F2-E19B-AA7A-9BD8FF90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8A2992-431C-8D8C-B1E3-0050ACD5F0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E0435-AB8B-DF88-195C-D6239A8F6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B5D11-05DE-F179-0C44-0B3F7F49E4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261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3C081-097C-5FF7-93E7-A3309C56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24D19A-E556-9E62-126D-6333EBED0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ECADA7-7FF0-CCAC-F017-E2E924451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EB50A-D077-0DB6-98BF-61598210FB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184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CF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53206" y="114014"/>
            <a:ext cx="318455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 – Title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34132" y="994470"/>
            <a:ext cx="8709868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904953" y="1499965"/>
            <a:ext cx="488106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BLUESTOCK MUTUAL FUND ANALYTICS CAPSTONE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37093" y="2648794"/>
            <a:ext cx="3972776" cy="1078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25000" lnSpcReduction="20000"/>
          </a:bodyPr>
          <a:lstStyle/>
          <a:p>
            <a:pPr algn="l">
              <a:lnSpc>
                <a:spcPct val="125000"/>
              </a:lnSpc>
              <a:spcAft>
                <a:spcPts val="950"/>
              </a:spcAft>
            </a:pPr>
            <a:r>
              <a:rPr lang="en-US" sz="5600" dirty="0"/>
              <a:t>- SUBMITTED BY : MUGILAN M</a:t>
            </a:r>
          </a:p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5600" dirty="0"/>
              <a:t>- TECHNOLOGIES: PYTHON, SQL, SQLITE , POWER BI</a:t>
            </a:r>
          </a:p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5600" dirty="0"/>
              <a:t>- JUNE 2026</a:t>
            </a:r>
          </a:p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34132" y="4651250"/>
            <a:ext cx="8275737" cy="9302"/>
          </a:xfrm>
          <a:prstGeom prst="rect">
            <a:avLst/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34132" y="4567535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3F0CE-2896-9B09-36DD-9630FA98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5D6911-6B22-A6CB-3D7B-3FEA0A85B31F}"/>
              </a:ext>
            </a:extLst>
          </p:cNvPr>
          <p:cNvSpPr/>
          <p:nvPr/>
        </p:nvSpPr>
        <p:spPr>
          <a:xfrm>
            <a:off x="434132" y="389855"/>
            <a:ext cx="701114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2 – Problem Statement &amp; Objectives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E2D3C2-CFF5-6664-4E60-1503DED13D88}"/>
              </a:ext>
            </a:extLst>
          </p:cNvPr>
          <p:cNvSpPr/>
          <p:nvPr/>
        </p:nvSpPr>
        <p:spPr>
          <a:xfrm>
            <a:off x="434132" y="994470"/>
            <a:ext cx="8709868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78F179C-929F-7E28-DFBE-5FC4575C5D62}"/>
              </a:ext>
            </a:extLst>
          </p:cNvPr>
          <p:cNvSpPr/>
          <p:nvPr/>
        </p:nvSpPr>
        <p:spPr>
          <a:xfrm>
            <a:off x="434132" y="1306116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0FCCCE-464F-DBA6-1B86-E9F935E16999}"/>
              </a:ext>
            </a:extLst>
          </p:cNvPr>
          <p:cNvSpPr/>
          <p:nvPr/>
        </p:nvSpPr>
        <p:spPr>
          <a:xfrm>
            <a:off x="434132" y="1662708"/>
            <a:ext cx="8275737" cy="680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spcAft>
                <a:spcPts val="950"/>
              </a:spcAft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Mutual fund data is high-volume, heterogeneous and time-series driven, which makes manual comparison slow, error-prone and unsuitable for scalable investment decisions. Analysts need a consistent, auditable way to compare performance and risk.</a:t>
            </a:r>
            <a:endParaRPr lang="en-US" sz="9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ECE028-58B7-9EA2-AB37-115A6C2C3078}"/>
              </a:ext>
            </a:extLst>
          </p:cNvPr>
          <p:cNvSpPr/>
          <p:nvPr/>
        </p:nvSpPr>
        <p:spPr>
          <a:xfrm>
            <a:off x="434132" y="2495848"/>
            <a:ext cx="8275737" cy="9302"/>
          </a:xfrm>
          <a:prstGeom prst="rect">
            <a:avLst/>
          </a:prstGeom>
          <a:solidFill>
            <a:srgbClr val="61615C">
              <a:alpha val="50000"/>
            </a:srgb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40F3488-83C7-9113-D4AF-16511E76853B}"/>
              </a:ext>
            </a:extLst>
          </p:cNvPr>
          <p:cNvSpPr/>
          <p:nvPr/>
        </p:nvSpPr>
        <p:spPr>
          <a:xfrm>
            <a:off x="434132" y="2658145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9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01B1E4-7C66-CB60-8DFF-AD5E12A541D4}"/>
              </a:ext>
            </a:extLst>
          </p:cNvPr>
          <p:cNvSpPr/>
          <p:nvPr/>
        </p:nvSpPr>
        <p:spPr>
          <a:xfrm>
            <a:off x="434132" y="300692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BDB623-57D9-46C3-568F-3F7ECC2C3CF9}"/>
              </a:ext>
            </a:extLst>
          </p:cNvPr>
          <p:cNvSpPr/>
          <p:nvPr/>
        </p:nvSpPr>
        <p:spPr>
          <a:xfrm>
            <a:off x="434132" y="3363516"/>
            <a:ext cx="8275737" cy="1081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Ingest and normalise mutual fund data into a single SQLite repository for reproducible analysis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Perform exploratory data analysis (EDA) to surface data quality issues and distributional patterns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Compute performance metrics (Alpha, Beta) and derive a transparent Risk Grade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Assemble a composite fund scorecard to enable apples-to-apples comparisons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Deliver an interactive Power BI dashboard for analyst exploration and reporting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F7163FC-E0A0-4FF4-1B9D-FFBD44E55D85}"/>
              </a:ext>
            </a:extLst>
          </p:cNvPr>
          <p:cNvSpPr/>
          <p:nvPr/>
        </p:nvSpPr>
        <p:spPr>
          <a:xfrm>
            <a:off x="434132" y="4567535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26734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555" y="247706"/>
            <a:ext cx="447742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3 – Data Sources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1742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Primary inputs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80642"/>
            <a:ext cx="4752677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Mutual Fund master dataset (fund identifiers, vintage, category)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Fund performance time-series (daily/monthly returns)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Category &amp; benchmark definitions (for peer grouping)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Precomputed return metrics (annualised returns, volatility)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Benchmark data (index returns aligned to fund horizons)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15471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Preparation steps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3517925"/>
            <a:ext cx="475267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cleaning: date parsing, ticker normalization, type conversions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Missing-value checks and targeted imputations or exclusions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Cross-source validation (IDs, dates, benchmark alignment)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Persist cleaned tables into SQLite for deterministic querying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249510"/>
            <a:ext cx="33066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4 – Project Architecture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1897261" y="576560"/>
            <a:ext cx="580667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897261" y="736029"/>
            <a:ext cx="1551012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Architecture workflow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897261" y="920651"/>
            <a:ext cx="5806678" cy="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endParaRPr lang="en-US" sz="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87" y="1064196"/>
            <a:ext cx="5305351" cy="22877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76286" y="2918132"/>
            <a:ext cx="1203603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SQL Queries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276286" y="2388546"/>
            <a:ext cx="1203603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SQLite DB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276286" y="1864310"/>
            <a:ext cx="1203603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Cleaning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276286" y="1334724"/>
            <a:ext cx="1203603" cy="15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Raw Dataset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897261" y="3399606"/>
            <a:ext cx="5349478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This end-to-end pipeline ensures traceability: raw inputs are transformed, stored, and queried to produce reproducible metrics that feed the BI layer. </a:t>
            </a:r>
            <a:endParaRPr lang="en-US" sz="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7261" y="3639071"/>
            <a:ext cx="193774" cy="19377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97261" y="3885828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Python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897261" y="4032275"/>
            <a:ext cx="2648248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Data munging, metric calculation, and automation scripts (Pandas, NumPy).</a:t>
            </a:r>
            <a:endParaRPr lang="en-US" sz="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98491" y="3639071"/>
            <a:ext cx="193774" cy="19377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98491" y="3885828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SQLite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598491" y="4032275"/>
            <a:ext cx="2648248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Single-file, version-controlled store for cleaned tables and derived metrics.</a:t>
            </a:r>
            <a:endParaRPr lang="en-US" sz="6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97261" y="4308872"/>
            <a:ext cx="193774" cy="19377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897261" y="4555629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Power BI</a:t>
            </a:r>
            <a:endParaRPr lang="en-US" sz="750" dirty="0"/>
          </a:p>
        </p:txBody>
      </p:sp>
      <p:sp>
        <p:nvSpPr>
          <p:cNvPr id="20" name="Text 14"/>
          <p:cNvSpPr/>
          <p:nvPr/>
        </p:nvSpPr>
        <p:spPr>
          <a:xfrm>
            <a:off x="1897261" y="4702076"/>
            <a:ext cx="2648248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Interactive dashboards, filters, KPI cards and scheduled refreshes for analysts.</a:t>
            </a:r>
            <a:endParaRPr lang="en-US" sz="6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8491" y="4308872"/>
            <a:ext cx="193774" cy="19377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8491" y="4555629"/>
            <a:ext cx="96909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GitHub</a:t>
            </a:r>
            <a:endParaRPr lang="en-US" sz="750" dirty="0"/>
          </a:p>
        </p:txBody>
      </p:sp>
      <p:sp>
        <p:nvSpPr>
          <p:cNvPr id="23" name="Text 16"/>
          <p:cNvSpPr/>
          <p:nvPr/>
        </p:nvSpPr>
        <p:spPr>
          <a:xfrm>
            <a:off x="4598491" y="4702076"/>
            <a:ext cx="2648248" cy="191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6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Code, notebooks and documentation for reproducibility and peer review.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367382"/>
            <a:ext cx="5555828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5 – EDA Highlights (Part 1)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49610" y="1001688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9610" y="1372195"/>
            <a:ext cx="4202757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Exploratory Data Analysis — what we checked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49610" y="1747465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610" y="2074366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49610" y="2278410"/>
            <a:ext cx="2670646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449610" y="2371204"/>
            <a:ext cx="172729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Category distribution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9610" y="2641699"/>
            <a:ext cx="267064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Count and AUM by category to identify dominant segments and potential sampling bias.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36640" y="2074366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36640" y="2278410"/>
            <a:ext cx="2670646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2" name="Text 10"/>
          <p:cNvSpPr/>
          <p:nvPr/>
        </p:nvSpPr>
        <p:spPr>
          <a:xfrm>
            <a:off x="3236640" y="2371204"/>
            <a:ext cx="19259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Fund counts &amp; vintages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36640" y="2641699"/>
            <a:ext cx="267064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Active vs closed funds, vintage years and survivorship bias assessments.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23670" y="2074366"/>
            <a:ext cx="256952" cy="1605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23670" y="2278410"/>
            <a:ext cx="2670646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4"/>
          <p:cNvSpPr/>
          <p:nvPr/>
        </p:nvSpPr>
        <p:spPr>
          <a:xfrm>
            <a:off x="6023670" y="2371204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23670" y="2641699"/>
            <a:ext cx="267064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Missing dates/returns, outliers, and alignment mismatches with benchmarks.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610" y="3456756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9610" y="3783657"/>
            <a:ext cx="8244780" cy="665559"/>
          </a:xfrm>
          <a:prstGeom prst="roundRect">
            <a:avLst>
              <a:gd name="adj" fmla="val 2896"/>
            </a:avLst>
          </a:prstGeom>
          <a:solidFill>
            <a:srgbClr val="DADAD7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48" y="3965079"/>
            <a:ext cx="160586" cy="128439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67073" y="3920505"/>
            <a:ext cx="7698879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Key observation: a handful of categories account for most funds and AUM — this influences peer-benchmark choices and weighting in comparative analysis. 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8" y="19118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6 – EDA Highlights (Part 2): Return &amp; Risk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8" y="1518835"/>
            <a:ext cx="228547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Analyses performed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93294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Return distribution (annualised, by fund &amp; category)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Risk distribution (volatility, drawdowns)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Time-series trends and regime shifts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6119" y="3277716"/>
            <a:ext cx="851169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Observations: dispersion in returns and risks is high between categories; tail-risk and volatility clustering are present for some equity-focused funds.     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92304"/>
            <a:ext cx="582900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7 – Performance Metrics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30676" y="997892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4" name="Text 2"/>
          <p:cNvSpPr/>
          <p:nvPr/>
        </p:nvSpPr>
        <p:spPr>
          <a:xfrm>
            <a:off x="874975" y="997892"/>
            <a:ext cx="68521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Alpha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56561" y="1252017"/>
            <a:ext cx="2138437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Excess return vs benchmark after adjusting for market exposure — computed via regression of fund excess returns on benchmark excess returns.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30026" y="997891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3908755" y="997891"/>
            <a:ext cx="53860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Beta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08755" y="1252017"/>
            <a:ext cx="213843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Sensitivity of the fund to benchmark movements (slope of the regression). Used to scale expected return volatility.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67877" y="997890"/>
            <a:ext cx="318939" cy="318939"/>
          </a:xfrm>
          <a:prstGeom prst="roundRect">
            <a:avLst>
              <a:gd name="adj" fmla="val 6667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6886878" y="997891"/>
            <a:ext cx="10625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Risk Grade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86878" y="1250480"/>
            <a:ext cx="213843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Rule-based grade derived from volatility, max drawdown and tail-risk metrics — mapped to a standardised A–E scale for quick comparison.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0323" y="3713264"/>
            <a:ext cx="7313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Outcome: a standardised performance framework enabling objective comparisons beyond headline returns.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5667"/>
            <a:ext cx="655223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8 – Fund Scorecard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35781" y="1373014"/>
            <a:ext cx="25628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Scorecard components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35781" y="1736229"/>
            <a:ext cx="339871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Alpha, Beta, Risk Grade, Recent performance, AUM and Expense Ratio combined into a single score to rank funds within categories.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7090" y="1390724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0954" y="13730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Comparability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190954" y="1628047"/>
            <a:ext cx="37962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Normalises for scale and category to enable fair peer comparisons.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7090" y="2491085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90954" y="243270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Actionability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90953" y="2726830"/>
            <a:ext cx="37962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Score thresholds trigger review, rebalancing or deeper due diligence.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586" y="3591446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0953" y="34906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Transparency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1190952" y="3825613"/>
            <a:ext cx="379623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Each component is auditable via underlying SQL queries and stored intermediate tables.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6721"/>
            <a:ext cx="587432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9 – Dashboard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0322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364233"/>
            <a:ext cx="43365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Power BI dashboard — primary capabilities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27669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00334"/>
            <a:ext cx="354360" cy="35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7658" y="183021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Interactive filters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27657" y="2077514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Date ranges, category, risk grade and AUM buckets to refine cohorts.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1333" y="1887412"/>
            <a:ext cx="354360" cy="35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44623" y="190033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744623" y="2206845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Alpha, Beta, volatility and top/bottom fund snapshots for quick monitoring.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982902"/>
            <a:ext cx="354360" cy="3543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7658" y="284016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Category analysis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027656" y="3143824"/>
            <a:ext cx="345571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Side-by-side comparisons with peer medians and percentile bands.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61333" y="2982902"/>
            <a:ext cx="354360" cy="3543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744623" y="2840162"/>
            <a:ext cx="22285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Performance monitoring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5744623" y="3143824"/>
            <a:ext cx="3455789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Rolling return and rolling volatility panels for trend detection.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98897"/>
            <a:ext cx="61459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10 – Dashboard Screenshots</a:t>
            </a:r>
            <a:endParaRPr lang="en-US" sz="2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56DA37A-5817-DFD8-53B3-413237031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474" y="1122328"/>
            <a:ext cx="5451929" cy="3153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60FA2-09C8-83A0-E205-9F7F27B1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F4FAC4-6361-16F4-0146-58DC06FBA848}"/>
              </a:ext>
            </a:extLst>
          </p:cNvPr>
          <p:cNvSpPr/>
          <p:nvPr/>
        </p:nvSpPr>
        <p:spPr>
          <a:xfrm>
            <a:off x="496119" y="298897"/>
            <a:ext cx="61459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11 – Dashboard Screenshots</a:t>
            </a:r>
            <a:endParaRPr lang="en-US" sz="27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95CBF7-9A21-845A-6982-DD2C7E3C65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34" y="828797"/>
            <a:ext cx="4852692" cy="3961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75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8955D-671C-7261-AA3B-6B8D67BB2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178C804-8C99-8008-4C1E-A72F3DC9E3B5}"/>
              </a:ext>
            </a:extLst>
          </p:cNvPr>
          <p:cNvSpPr/>
          <p:nvPr/>
        </p:nvSpPr>
        <p:spPr>
          <a:xfrm>
            <a:off x="496119" y="298897"/>
            <a:ext cx="61459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12 – Dashboard Screenshots</a:t>
            </a:r>
            <a:endParaRPr lang="en-US" sz="27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2C2A9-B4E9-376E-8C3B-6308F0D63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459" y="894945"/>
            <a:ext cx="5367082" cy="3736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453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5E261-35C3-CCBD-EF8B-2449FB29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D36197-D03E-BC64-080C-491B0C4B9678}"/>
              </a:ext>
            </a:extLst>
          </p:cNvPr>
          <p:cNvSpPr/>
          <p:nvPr/>
        </p:nvSpPr>
        <p:spPr>
          <a:xfrm>
            <a:off x="496119" y="298897"/>
            <a:ext cx="614592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12 – Dashboard Screenshots</a:t>
            </a:r>
            <a:endParaRPr lang="en-US" sz="275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338FFE-269D-EDFB-C9F1-B41A08541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896" y="1163624"/>
            <a:ext cx="6052541" cy="287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55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2" y="397892"/>
            <a:ext cx="3702112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11 – Key Findings 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1346532" y="1152845"/>
            <a:ext cx="1980679" cy="1478161"/>
          </a:xfrm>
          <a:prstGeom prst="roundRect">
            <a:avLst>
              <a:gd name="adj" fmla="val 1281"/>
            </a:avLst>
          </a:prstGeom>
          <a:solidFill>
            <a:srgbClr val="F0EAEA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1472737" y="1250430"/>
            <a:ext cx="1728267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Distribution imbalance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72736" y="1719569"/>
            <a:ext cx="1728267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Certain categories dominate fund counts and AUM; ensure category-weighted comparisons to avoid bias.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25663" y="1174035"/>
            <a:ext cx="1980754" cy="1478161"/>
          </a:xfrm>
          <a:prstGeom prst="roundRect">
            <a:avLst>
              <a:gd name="adj" fmla="val 1281"/>
            </a:avLst>
          </a:prstGeom>
          <a:solidFill>
            <a:srgbClr val="F0EAEA"/>
          </a:solidFill>
          <a:ln/>
        </p:spPr>
      </p:sp>
      <p:sp>
        <p:nvSpPr>
          <p:cNvPr id="7" name="Text 5"/>
          <p:cNvSpPr/>
          <p:nvPr/>
        </p:nvSpPr>
        <p:spPr>
          <a:xfrm>
            <a:off x="5551869" y="1248774"/>
            <a:ext cx="1728341" cy="394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Performance dispersion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551869" y="1734390"/>
            <a:ext cx="172834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Returns and risk vary widely across and within categories — composite metrics improve signal detection.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46457" y="2928850"/>
            <a:ext cx="1980754" cy="1478161"/>
          </a:xfrm>
          <a:prstGeom prst="roundRect">
            <a:avLst>
              <a:gd name="adj" fmla="val 1281"/>
            </a:avLst>
          </a:prstGeom>
          <a:solidFill>
            <a:srgbClr val="F0EAEA"/>
          </a:solidFill>
          <a:ln/>
        </p:spPr>
      </p:sp>
      <p:sp>
        <p:nvSpPr>
          <p:cNvPr id="10" name="Text 8"/>
          <p:cNvSpPr/>
          <p:nvPr/>
        </p:nvSpPr>
        <p:spPr>
          <a:xfrm>
            <a:off x="1472737" y="305007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Risk heterogeneity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72737" y="3456562"/>
            <a:ext cx="172834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Tail-risk and drawdowns materially affect grade assignments; include scenario analysis in reviews.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25663" y="2928850"/>
            <a:ext cx="1980754" cy="1478161"/>
          </a:xfrm>
          <a:prstGeom prst="roundRect">
            <a:avLst>
              <a:gd name="adj" fmla="val 1281"/>
            </a:avLst>
          </a:prstGeom>
          <a:solidFill>
            <a:srgbClr val="F0EAEA"/>
          </a:solidFill>
          <a:ln/>
        </p:spPr>
      </p:sp>
      <p:sp>
        <p:nvSpPr>
          <p:cNvPr id="13" name="Text 11"/>
          <p:cNvSpPr/>
          <p:nvPr/>
        </p:nvSpPr>
        <p:spPr>
          <a:xfrm>
            <a:off x="5551869" y="3050079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Dashboard value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94660" y="3456562"/>
            <a:ext cx="1728341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Visualisation and filters significantly accelerate hypothesis testing and reporting cadence.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871" y="4649651"/>
            <a:ext cx="8260259" cy="9451"/>
          </a:xfrm>
          <a:prstGeom prst="rect">
            <a:avLst/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41871" y="4554662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CE323-E084-25FF-E546-70804A365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A30123-BA50-AEE8-4294-D29C6972C875}"/>
              </a:ext>
            </a:extLst>
          </p:cNvPr>
          <p:cNvSpPr/>
          <p:nvPr/>
        </p:nvSpPr>
        <p:spPr>
          <a:xfrm>
            <a:off x="3499457" y="66342"/>
            <a:ext cx="128960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Slide 12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506AD7-AD89-3E29-5FC0-92C899404228}"/>
              </a:ext>
            </a:extLst>
          </p:cNvPr>
          <p:cNvSpPr/>
          <p:nvPr/>
        </p:nvSpPr>
        <p:spPr>
          <a:xfrm>
            <a:off x="434132" y="994470"/>
            <a:ext cx="8709868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B22CEAC-A13B-C967-8680-A4B23D5FA404}"/>
              </a:ext>
            </a:extLst>
          </p:cNvPr>
          <p:cNvSpPr/>
          <p:nvPr/>
        </p:nvSpPr>
        <p:spPr>
          <a:xfrm>
            <a:off x="3565605" y="1633854"/>
            <a:ext cx="1289609" cy="23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300DB1E-3581-DEAA-0B53-4721F9ECEA45}"/>
              </a:ext>
            </a:extLst>
          </p:cNvPr>
          <p:cNvSpPr/>
          <p:nvPr/>
        </p:nvSpPr>
        <p:spPr>
          <a:xfrm>
            <a:off x="434132" y="4651250"/>
            <a:ext cx="8275737" cy="9302"/>
          </a:xfrm>
          <a:prstGeom prst="rect">
            <a:avLst/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8B6D4BE-E6FE-EAC8-8F7E-742128421F36}"/>
              </a:ext>
            </a:extLst>
          </p:cNvPr>
          <p:cNvSpPr/>
          <p:nvPr/>
        </p:nvSpPr>
        <p:spPr>
          <a:xfrm>
            <a:off x="434132" y="4567535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endParaRPr lang="en-US" sz="9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ECF1ED-1510-F884-7D40-BB79874FF7FA}"/>
              </a:ext>
            </a:extLst>
          </p:cNvPr>
          <p:cNvSpPr txBox="1"/>
          <p:nvPr/>
        </p:nvSpPr>
        <p:spPr>
          <a:xfrm>
            <a:off x="968875" y="3432922"/>
            <a:ext cx="7272397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BLUESTOCK MUTUAL FUND ANALYTICS CAPSTONE PROJECT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34752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830</Words>
  <Application>Microsoft Office PowerPoint</Application>
  <PresentationFormat>On-screen Show (16:9)</PresentationFormat>
  <Paragraphs>125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Tomorrow SemiBold</vt:lpstr>
      <vt:lpstr>Arial</vt:lpstr>
      <vt:lpstr>Tomorrow Light</vt:lpstr>
      <vt:lpstr>Tomorrow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Mugilan M</dc:creator>
  <cp:lastModifiedBy>Mugilan M</cp:lastModifiedBy>
  <cp:revision>3</cp:revision>
  <dcterms:created xsi:type="dcterms:W3CDTF">2026-06-10T11:21:16Z</dcterms:created>
  <dcterms:modified xsi:type="dcterms:W3CDTF">2026-06-10T12:35:16Z</dcterms:modified>
</cp:coreProperties>
</file>