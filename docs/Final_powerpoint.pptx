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68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66" r:id="rId13"/>
    <p:sldId id="265" r:id="rId14"/>
    <p:sldId id="269" r:id="rId15"/>
  </p:sldIdLst>
  <p:sldSz cx="9144000" cy="5143500" type="screen16x9"/>
  <p:notesSz cx="5143500" cy="9144000"/>
  <p:embeddedFontLst>
    <p:embeddedFont>
      <p:font typeface="Tomorrow" charset="0"/>
      <p:regular r:id="rId17"/>
    </p:embeddedFont>
    <p:embeddedFont>
      <p:font typeface="Tomorrow Light" pitchFamily="2" charset="0"/>
      <p:regular r:id="rId18"/>
    </p:embeddedFont>
    <p:embeddedFont>
      <p:font typeface="Tomorrow SemiBold" panose="020B0604020202020204" charset="0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0" d="100"/>
          <a:sy n="140" d="100"/>
        </p:scale>
        <p:origin x="79" y="20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51720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E5E09B-2A65-2E0B-8531-4202131D1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3AB6ED-1636-B134-D709-EE2325D1F6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92F95D-FA20-2BAB-7B11-1A4112A553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106398-2BB5-A6A1-2158-A370300390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5168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15CC6-CDA7-B3AB-89E7-BE5D2F947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BDEF00-DA4F-6B05-F910-63F0B7B1CB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3F8369-1A57-F8E4-F8B6-D4796AC09D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B6A2CD-8310-1ED2-66A6-0547A324A01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92985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57419-2E45-6591-F24C-CD7BE161B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B294B7-2928-CA40-A17D-7BDCBF0CC6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87A979-8F69-F13C-2E88-F2C5039C58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415034-A359-06CF-3626-4D11EEA360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40990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3C081-097C-5FF7-93E7-A3309C561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24D19A-E556-9E62-126D-6333EBED09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ECADA7-7FF0-CCAC-F017-E2E924451C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EB50A-D077-0DB6-98BF-61598210FB2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184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EFEFE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CFCFC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svg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53206" y="114014"/>
            <a:ext cx="3184557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Slide 1 – Title Slide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34132" y="994470"/>
            <a:ext cx="8709868" cy="148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1904953" y="1499965"/>
            <a:ext cx="4881061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BLUESTOCK MUTUAL FUND ANALYTICS CAPSTONE PROJECT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737093" y="2648794"/>
            <a:ext cx="3972776" cy="10788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25000" lnSpcReduction="20000"/>
          </a:bodyPr>
          <a:lstStyle/>
          <a:p>
            <a:pPr algn="l">
              <a:lnSpc>
                <a:spcPct val="125000"/>
              </a:lnSpc>
              <a:spcAft>
                <a:spcPts val="950"/>
              </a:spcAft>
            </a:pPr>
            <a:r>
              <a:rPr lang="en-US" sz="5600" dirty="0"/>
              <a:t>- SUBMITTED BY : MUGILAN M</a:t>
            </a:r>
          </a:p>
          <a:p>
            <a:pPr marL="0" indent="0" algn="l">
              <a:lnSpc>
                <a:spcPct val="125000"/>
              </a:lnSpc>
              <a:spcAft>
                <a:spcPts val="950"/>
              </a:spcAft>
              <a:buNone/>
            </a:pPr>
            <a:r>
              <a:rPr lang="en-US" sz="5600" dirty="0"/>
              <a:t>- TECHNOLOGIES: PYTHON, SQL, SQLITE , POWER BI</a:t>
            </a:r>
          </a:p>
          <a:p>
            <a:pPr marL="0" indent="0" algn="l">
              <a:lnSpc>
                <a:spcPct val="125000"/>
              </a:lnSpc>
              <a:spcAft>
                <a:spcPts val="950"/>
              </a:spcAft>
              <a:buNone/>
            </a:pPr>
            <a:r>
              <a:rPr lang="en-US" sz="5600" dirty="0"/>
              <a:t>- JUNE 2026</a:t>
            </a:r>
          </a:p>
          <a:p>
            <a:pPr marL="0" indent="0" algn="l">
              <a:lnSpc>
                <a:spcPct val="125000"/>
              </a:lnSpc>
              <a:spcAft>
                <a:spcPts val="950"/>
              </a:spcAft>
              <a:buNone/>
            </a:pP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34132" y="4651250"/>
            <a:ext cx="8275737" cy="9302"/>
          </a:xfrm>
          <a:prstGeom prst="rect">
            <a:avLst/>
          </a:prstGeom>
          <a:solidFill>
            <a:srgbClr val="61615C">
              <a:alpha val="5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34132" y="4567535"/>
            <a:ext cx="8709868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3F0CE-2896-9B09-36DD-9630FA9869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85D6911-6B22-A6CB-3D7B-3FEA0A85B31F}"/>
              </a:ext>
            </a:extLst>
          </p:cNvPr>
          <p:cNvSpPr/>
          <p:nvPr/>
        </p:nvSpPr>
        <p:spPr>
          <a:xfrm>
            <a:off x="434132" y="389855"/>
            <a:ext cx="7011144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Slide 2 – Problem Statement &amp; Objectives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0E2D3C2-CFF5-6664-4E60-1503DED13D88}"/>
              </a:ext>
            </a:extLst>
          </p:cNvPr>
          <p:cNvSpPr/>
          <p:nvPr/>
        </p:nvSpPr>
        <p:spPr>
          <a:xfrm>
            <a:off x="434132" y="994470"/>
            <a:ext cx="8709868" cy="148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</a:t>
            </a:r>
            <a:endParaRPr lang="en-US" sz="7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78F179C-929F-7E28-DFBE-5FC4575C5D62}"/>
              </a:ext>
            </a:extLst>
          </p:cNvPr>
          <p:cNvSpPr/>
          <p:nvPr/>
        </p:nvSpPr>
        <p:spPr>
          <a:xfrm>
            <a:off x="434132" y="1306116"/>
            <a:ext cx="20077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Problem statement</a:t>
            </a:r>
            <a:endParaRPr lang="en-US" sz="12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B0FCCCE-464F-DBA6-1B86-E9F935E16999}"/>
              </a:ext>
            </a:extLst>
          </p:cNvPr>
          <p:cNvSpPr/>
          <p:nvPr/>
        </p:nvSpPr>
        <p:spPr>
          <a:xfrm>
            <a:off x="434132" y="1662708"/>
            <a:ext cx="8275737" cy="6801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5000"/>
              </a:lnSpc>
              <a:spcAft>
                <a:spcPts val="950"/>
              </a:spcAft>
              <a:buNone/>
            </a:pPr>
            <a:r>
              <a:rPr lang="en-US" sz="9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Mutual fund data is high-volume, heterogeneous and time-series driven, which makes manual comparison slow, error-prone and unsuitable for scalable investment decisions. Analysts need a consistent, auditable way to compare performance and risk.</a:t>
            </a:r>
            <a:endParaRPr lang="en-US" sz="95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75ECE028-58B7-9EA2-AB37-115A6C2C3078}"/>
              </a:ext>
            </a:extLst>
          </p:cNvPr>
          <p:cNvSpPr/>
          <p:nvPr/>
        </p:nvSpPr>
        <p:spPr>
          <a:xfrm>
            <a:off x="434132" y="2495848"/>
            <a:ext cx="8275737" cy="9302"/>
          </a:xfrm>
          <a:prstGeom prst="rect">
            <a:avLst/>
          </a:prstGeom>
          <a:solidFill>
            <a:srgbClr val="61615C">
              <a:alpha val="50000"/>
            </a:srgbClr>
          </a:solidFill>
          <a:ln/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F40F3488-83C7-9113-D4AF-16511E76853B}"/>
              </a:ext>
            </a:extLst>
          </p:cNvPr>
          <p:cNvSpPr/>
          <p:nvPr/>
        </p:nvSpPr>
        <p:spPr>
          <a:xfrm>
            <a:off x="434132" y="2658145"/>
            <a:ext cx="8709868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9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</a:t>
            </a:r>
            <a:endParaRPr lang="en-US" sz="950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4801B1E4-7C66-CB60-8DFF-AD5E12A541D4}"/>
              </a:ext>
            </a:extLst>
          </p:cNvPr>
          <p:cNvSpPr/>
          <p:nvPr/>
        </p:nvSpPr>
        <p:spPr>
          <a:xfrm>
            <a:off x="434132" y="3006923"/>
            <a:ext cx="20077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Objectives</a:t>
            </a:r>
            <a:endParaRPr lang="en-US" sz="12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26BDB623-57D9-46C3-568F-3F7ECC2C3CF9}"/>
              </a:ext>
            </a:extLst>
          </p:cNvPr>
          <p:cNvSpPr/>
          <p:nvPr/>
        </p:nvSpPr>
        <p:spPr>
          <a:xfrm>
            <a:off x="434132" y="3363516"/>
            <a:ext cx="8275737" cy="1081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Ingest and normalise mutual fund data into a single SQLite repository for reproducible analysis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Perform exploratory data analysis (EDA) to surface data quality issues and distributional patterns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Compute performance metrics (Alpha, Beta) and derive a transparent Risk Grade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Assemble a composite fund scorecard to enable apples-to-apples comparisons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Deliver an interactive Power BI dashboard for analyst exploration and reporting</a:t>
            </a:r>
            <a:endParaRPr lang="en-US" sz="95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F7163FC-E0A0-4FF4-1B9D-FFBD44E55D85}"/>
              </a:ext>
            </a:extLst>
          </p:cNvPr>
          <p:cNvSpPr/>
          <p:nvPr/>
        </p:nvSpPr>
        <p:spPr>
          <a:xfrm>
            <a:off x="434132" y="4567535"/>
            <a:ext cx="8709868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2673435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80555" y="247706"/>
            <a:ext cx="4477420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Slide 3 – Data Sources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317427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Primary inputs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96119" y="1680642"/>
            <a:ext cx="4752677" cy="1332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Mutual Fund master dataset (fund identifiers, vintage, category)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Fund performance time-series (daily/monthly returns)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Category &amp; benchmark definitions (for peer grouping)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Precomputed return metrics (annualised returns, volatility)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Benchmark data (index returns aligned to fund horizons)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96119" y="3154710"/>
            <a:ext cx="22292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Preparation steps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496119" y="3517925"/>
            <a:ext cx="4752677" cy="10559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Data cleaning: date parsing, ticker normalization, type conversions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Missing-value checks and targeted imputations or exclusions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Cross-source validation (IDs, dates, benchmark alignment)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Persist cleaned tables into SQLite for deterministic querying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897261" y="249510"/>
            <a:ext cx="3306663" cy="24229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0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Slide 4 – Project Architecture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1897261" y="576560"/>
            <a:ext cx="5806678" cy="95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6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</a:t>
            </a:r>
            <a:endParaRPr lang="en-US" sz="600" dirty="0"/>
          </a:p>
        </p:txBody>
      </p:sp>
      <p:sp>
        <p:nvSpPr>
          <p:cNvPr id="4" name="Text 2"/>
          <p:cNvSpPr/>
          <p:nvPr/>
        </p:nvSpPr>
        <p:spPr>
          <a:xfrm>
            <a:off x="1897261" y="736029"/>
            <a:ext cx="1551012" cy="121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5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Architecture workflow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897261" y="920651"/>
            <a:ext cx="5806678" cy="95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endParaRPr lang="en-US" sz="6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287" y="1064196"/>
            <a:ext cx="5305351" cy="228778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276286" y="2918132"/>
            <a:ext cx="1203603" cy="150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SQL Queries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2276286" y="2388546"/>
            <a:ext cx="1203603" cy="150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SQLite DB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2276286" y="1864310"/>
            <a:ext cx="1203603" cy="150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Data Cleaning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2276286" y="1334724"/>
            <a:ext cx="1203603" cy="1504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Raw Dataset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897261" y="3399606"/>
            <a:ext cx="5349478" cy="191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6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This end-to-end pipeline ensures traceability: raw inputs are transformed, stored, and queried to produce reproducible metrics that feed the BI layer. </a:t>
            </a:r>
            <a:endParaRPr lang="en-US" sz="6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97261" y="3639071"/>
            <a:ext cx="193774" cy="19377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897261" y="3885828"/>
            <a:ext cx="969094" cy="121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Python</a:t>
            </a:r>
            <a:endParaRPr lang="en-US" sz="750" dirty="0"/>
          </a:p>
        </p:txBody>
      </p:sp>
      <p:sp>
        <p:nvSpPr>
          <p:cNvPr id="14" name="Text 10"/>
          <p:cNvSpPr/>
          <p:nvPr/>
        </p:nvSpPr>
        <p:spPr>
          <a:xfrm>
            <a:off x="1897261" y="4032275"/>
            <a:ext cx="2648248" cy="191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6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Data munging, metric calculation, and automation scripts (Pandas, NumPy).</a:t>
            </a:r>
            <a:endParaRPr lang="en-US" sz="6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98491" y="3639071"/>
            <a:ext cx="193774" cy="19377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98491" y="3885828"/>
            <a:ext cx="969094" cy="121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SQLite</a:t>
            </a:r>
            <a:endParaRPr lang="en-US" sz="750" dirty="0"/>
          </a:p>
        </p:txBody>
      </p:sp>
      <p:sp>
        <p:nvSpPr>
          <p:cNvPr id="17" name="Text 12"/>
          <p:cNvSpPr/>
          <p:nvPr/>
        </p:nvSpPr>
        <p:spPr>
          <a:xfrm>
            <a:off x="4598491" y="4032275"/>
            <a:ext cx="2648248" cy="191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6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Single-file, version-controlled store for cleaned tables and derived metrics.</a:t>
            </a:r>
            <a:endParaRPr lang="en-US" sz="6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97261" y="4308872"/>
            <a:ext cx="193774" cy="19377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897261" y="4555629"/>
            <a:ext cx="969094" cy="121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Power BI</a:t>
            </a:r>
            <a:endParaRPr lang="en-US" sz="750" dirty="0"/>
          </a:p>
        </p:txBody>
      </p:sp>
      <p:sp>
        <p:nvSpPr>
          <p:cNvPr id="20" name="Text 14"/>
          <p:cNvSpPr/>
          <p:nvPr/>
        </p:nvSpPr>
        <p:spPr>
          <a:xfrm>
            <a:off x="1897261" y="4702076"/>
            <a:ext cx="2648248" cy="191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6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Interactive dashboards, filters, KPI cards and scheduled refreshes for analysts.</a:t>
            </a:r>
            <a:endParaRPr lang="en-US" sz="600" dirty="0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98491" y="4308872"/>
            <a:ext cx="193774" cy="193774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598491" y="4555629"/>
            <a:ext cx="969094" cy="1210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7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GitHub</a:t>
            </a:r>
            <a:endParaRPr lang="en-US" sz="750" dirty="0"/>
          </a:p>
        </p:txBody>
      </p:sp>
      <p:sp>
        <p:nvSpPr>
          <p:cNvPr id="23" name="Text 16"/>
          <p:cNvSpPr/>
          <p:nvPr/>
        </p:nvSpPr>
        <p:spPr>
          <a:xfrm>
            <a:off x="4598491" y="4702076"/>
            <a:ext cx="2648248" cy="19183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6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Code, notebooks and documentation for reproducibility and peer review.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9610" y="367382"/>
            <a:ext cx="5555828" cy="4014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50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Slide 5 – EDA Highlights (Part 1)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449610" y="1001688"/>
            <a:ext cx="8694390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9610" y="1372195"/>
            <a:ext cx="4202757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Exploratory Data Analysis — what we checked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49610" y="1747465"/>
            <a:ext cx="8694390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49610" y="2074366"/>
            <a:ext cx="256952" cy="160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61615C"/>
                </a:solidFill>
                <a:latin typeface="Tomorrow Light" pitchFamily="34" charset="0"/>
                <a:ea typeface="Tomorrow Light" pitchFamily="34" charset="-122"/>
                <a:cs typeface="Tomorrow Light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49610" y="2278410"/>
            <a:ext cx="2670646" cy="14288"/>
          </a:xfrm>
          <a:prstGeom prst="rect">
            <a:avLst/>
          </a:prstGeom>
          <a:solidFill>
            <a:srgbClr val="1D1D1B"/>
          </a:solidFill>
          <a:ln/>
        </p:spPr>
      </p:sp>
      <p:sp>
        <p:nvSpPr>
          <p:cNvPr id="8" name="Text 6"/>
          <p:cNvSpPr/>
          <p:nvPr/>
        </p:nvSpPr>
        <p:spPr>
          <a:xfrm>
            <a:off x="449610" y="2371204"/>
            <a:ext cx="1727299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Category distribution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9610" y="2641699"/>
            <a:ext cx="2670646" cy="5877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Count and AUM by category to identify dominant segments and potential sampling bias.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36640" y="2074366"/>
            <a:ext cx="256952" cy="160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61615C"/>
                </a:solidFill>
                <a:latin typeface="Tomorrow Light" pitchFamily="34" charset="0"/>
                <a:ea typeface="Tomorrow Light" pitchFamily="34" charset="-122"/>
                <a:cs typeface="Tomorrow Light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36640" y="2278410"/>
            <a:ext cx="2670646" cy="14288"/>
          </a:xfrm>
          <a:prstGeom prst="rect">
            <a:avLst/>
          </a:prstGeom>
          <a:solidFill>
            <a:srgbClr val="1D1D1B"/>
          </a:solidFill>
          <a:ln/>
        </p:spPr>
      </p:sp>
      <p:sp>
        <p:nvSpPr>
          <p:cNvPr id="12" name="Text 10"/>
          <p:cNvSpPr/>
          <p:nvPr/>
        </p:nvSpPr>
        <p:spPr>
          <a:xfrm>
            <a:off x="3236640" y="2371204"/>
            <a:ext cx="1925910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Fund counts &amp; vintages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236640" y="2641699"/>
            <a:ext cx="2670646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Active vs closed funds, vintage years and survivorship bias assessments.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023670" y="2074366"/>
            <a:ext cx="256952" cy="16058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00" dirty="0">
                <a:solidFill>
                  <a:srgbClr val="61615C"/>
                </a:solidFill>
                <a:latin typeface="Tomorrow Light" pitchFamily="34" charset="0"/>
                <a:ea typeface="Tomorrow Light" pitchFamily="34" charset="-122"/>
                <a:cs typeface="Tomorrow Light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23670" y="2278410"/>
            <a:ext cx="2670646" cy="14288"/>
          </a:xfrm>
          <a:prstGeom prst="rect">
            <a:avLst/>
          </a:prstGeom>
          <a:solidFill>
            <a:srgbClr val="1D1D1B"/>
          </a:solidFill>
          <a:ln/>
        </p:spPr>
      </p:sp>
      <p:sp>
        <p:nvSpPr>
          <p:cNvPr id="16" name="Text 14"/>
          <p:cNvSpPr/>
          <p:nvPr/>
        </p:nvSpPr>
        <p:spPr>
          <a:xfrm>
            <a:off x="6023670" y="2371204"/>
            <a:ext cx="1605930" cy="20069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Data quality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023670" y="2641699"/>
            <a:ext cx="2670646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Missing dates/returns, outliers, and alignment mismatches with benchmarks.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9610" y="3456756"/>
            <a:ext cx="8694390" cy="1959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49610" y="3783657"/>
            <a:ext cx="8244780" cy="665559"/>
          </a:xfrm>
          <a:prstGeom prst="roundRect">
            <a:avLst>
              <a:gd name="adj" fmla="val 2896"/>
            </a:avLst>
          </a:prstGeom>
          <a:solidFill>
            <a:srgbClr val="DADAD7"/>
          </a:solidFill>
          <a:ln/>
        </p:spPr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48" y="3965079"/>
            <a:ext cx="160586" cy="128439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867073" y="3920505"/>
            <a:ext cx="7698879" cy="3918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Key observation: a handful of categories account for most funds and AUM — this influences peer-benchmark choices and weighting in comparative analysis. 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8" y="191183"/>
            <a:ext cx="8151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Slide 6 – EDA Highlights (Part 2): Return &amp; Risk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8" y="1518835"/>
            <a:ext cx="2285479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Analyses performed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496119" y="1932941"/>
            <a:ext cx="3902943" cy="7795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Return distribution (annualised, by fund &amp; category)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Risk distribution (volatility, drawdowns)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Time-series trends and regime shifts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96119" y="3277716"/>
            <a:ext cx="8511694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Observations: dispersion in returns and risks is high between categories; tail-risk and volatility clustering are present for some equity-focused funds.     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92304"/>
            <a:ext cx="5829002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Slide 7 – Performance Metrics</a:t>
            </a:r>
            <a:endParaRPr lang="en-US" sz="2750" dirty="0"/>
          </a:p>
        </p:txBody>
      </p:sp>
      <p:sp>
        <p:nvSpPr>
          <p:cNvPr id="3" name="Shape 1"/>
          <p:cNvSpPr/>
          <p:nvPr/>
        </p:nvSpPr>
        <p:spPr>
          <a:xfrm>
            <a:off x="330676" y="997892"/>
            <a:ext cx="318939" cy="318939"/>
          </a:xfrm>
          <a:prstGeom prst="roundRect">
            <a:avLst>
              <a:gd name="adj" fmla="val 6667"/>
            </a:avLst>
          </a:prstGeom>
          <a:solidFill>
            <a:srgbClr val="F0EAEA"/>
          </a:solidFill>
          <a:ln/>
        </p:spPr>
      </p:sp>
      <p:sp>
        <p:nvSpPr>
          <p:cNvPr id="4" name="Text 2"/>
          <p:cNvSpPr/>
          <p:nvPr/>
        </p:nvSpPr>
        <p:spPr>
          <a:xfrm>
            <a:off x="874975" y="997892"/>
            <a:ext cx="68521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Alpha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56561" y="1252017"/>
            <a:ext cx="2138437" cy="13608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Excess return vs benchmark after adjusting for market exposure — computed via regression of fund excess returns on benchmark excess returns.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330026" y="997891"/>
            <a:ext cx="318939" cy="318939"/>
          </a:xfrm>
          <a:prstGeom prst="roundRect">
            <a:avLst>
              <a:gd name="adj" fmla="val 6667"/>
            </a:avLst>
          </a:prstGeom>
          <a:solidFill>
            <a:srgbClr val="F0EAEA"/>
          </a:solidFill>
          <a:ln/>
        </p:spPr>
      </p:sp>
      <p:sp>
        <p:nvSpPr>
          <p:cNvPr id="7" name="Text 5"/>
          <p:cNvSpPr/>
          <p:nvPr/>
        </p:nvSpPr>
        <p:spPr>
          <a:xfrm>
            <a:off x="3908755" y="997891"/>
            <a:ext cx="53860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Beta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908755" y="1252017"/>
            <a:ext cx="2138437" cy="9072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Sensitivity of the fund to benchmark movements (slope of the regression). Used to scale expected return volatility.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367877" y="997890"/>
            <a:ext cx="318939" cy="318939"/>
          </a:xfrm>
          <a:prstGeom prst="roundRect">
            <a:avLst>
              <a:gd name="adj" fmla="val 6667"/>
            </a:avLst>
          </a:prstGeom>
          <a:solidFill>
            <a:srgbClr val="F0EAEA"/>
          </a:solidFill>
          <a:ln/>
        </p:spPr>
      </p:sp>
      <p:sp>
        <p:nvSpPr>
          <p:cNvPr id="10" name="Text 8"/>
          <p:cNvSpPr/>
          <p:nvPr/>
        </p:nvSpPr>
        <p:spPr>
          <a:xfrm>
            <a:off x="6886878" y="997891"/>
            <a:ext cx="1062565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Risk Grade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886878" y="1250480"/>
            <a:ext cx="2138437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Rule-based grade derived from volatility, max drawdown and tail-risk metrics — mapped to a standardised A–E scale for quick comparison.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60323" y="3713264"/>
            <a:ext cx="7313246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Outcome: a standardised performance framework enabling objective comparisons beyond headline returns.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575667"/>
            <a:ext cx="6552233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Slide 8 – Fund Scorecard Analysis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535781" y="1373014"/>
            <a:ext cx="256282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Scorecard components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535781" y="1736229"/>
            <a:ext cx="3398713" cy="6804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Alpha, Beta, Risk Grade, Recent performance, AUM and Expense Ratio combined into a single score to rank funds within categories.</a:t>
            </a:r>
            <a:endParaRPr lang="en-US" sz="1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7090" y="1390724"/>
            <a:ext cx="354360" cy="354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90954" y="1373014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Comparability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1190954" y="1628047"/>
            <a:ext cx="379623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Normalises for scale and category to enable fair peer comparisons.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7090" y="2491085"/>
            <a:ext cx="354360" cy="354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90954" y="2432705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Actionability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190953" y="2726830"/>
            <a:ext cx="379623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Score thresholds trigger review, rebalancing or deeper due diligence.</a:t>
            </a:r>
            <a:endParaRPr lang="en-US" sz="11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6586" y="3591446"/>
            <a:ext cx="354360" cy="3543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90953" y="3490617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Transparency</a:t>
            </a:r>
            <a:endParaRPr lang="en-US" sz="1350" dirty="0"/>
          </a:p>
        </p:txBody>
      </p:sp>
      <p:sp>
        <p:nvSpPr>
          <p:cNvPr id="13" name="Text 8"/>
          <p:cNvSpPr/>
          <p:nvPr/>
        </p:nvSpPr>
        <p:spPr>
          <a:xfrm>
            <a:off x="1190952" y="3825613"/>
            <a:ext cx="3796233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Each component is auditable via underlying SQL queries and stored intermediate tables.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76721"/>
            <a:ext cx="5874321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Slide 9 – Dashboard Overview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496119" y="1403226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96119" y="1364233"/>
            <a:ext cx="4336554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Power BI dashboard — primary capabilities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496119" y="2276698"/>
            <a:ext cx="8608963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endParaRPr lang="en-US" sz="11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6119" y="1900334"/>
            <a:ext cx="354360" cy="3543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27658" y="1830214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Interactive filters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1027657" y="2077514"/>
            <a:ext cx="3455715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Date ranges, category, risk grade and AUM buckets to refine cohorts.</a:t>
            </a:r>
            <a:endParaRPr lang="en-US" sz="1100" dirty="0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61333" y="1887412"/>
            <a:ext cx="354360" cy="3543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744623" y="1900334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KPI cards</a:t>
            </a:r>
            <a:endParaRPr lang="en-US" sz="1350" dirty="0"/>
          </a:p>
        </p:txBody>
      </p:sp>
      <p:sp>
        <p:nvSpPr>
          <p:cNvPr id="11" name="Text 7"/>
          <p:cNvSpPr/>
          <p:nvPr/>
        </p:nvSpPr>
        <p:spPr>
          <a:xfrm>
            <a:off x="5744623" y="2206845"/>
            <a:ext cx="3455789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Alpha, Beta, volatility and top/bottom fund snapshots for quick monitoring.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96119" y="2982902"/>
            <a:ext cx="354360" cy="3543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27658" y="2840162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Category analysis</a:t>
            </a:r>
            <a:endParaRPr lang="en-US" sz="1350" dirty="0"/>
          </a:p>
        </p:txBody>
      </p:sp>
      <p:sp>
        <p:nvSpPr>
          <p:cNvPr id="14" name="Text 9"/>
          <p:cNvSpPr/>
          <p:nvPr/>
        </p:nvSpPr>
        <p:spPr>
          <a:xfrm>
            <a:off x="1027656" y="3143824"/>
            <a:ext cx="3455715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Side-by-side comparisons with peer medians and percentile bands.</a:t>
            </a:r>
            <a:endParaRPr lang="en-US" sz="1100" dirty="0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061333" y="2982902"/>
            <a:ext cx="354360" cy="3543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744623" y="2840162"/>
            <a:ext cx="222855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Performance monitoring</a:t>
            </a:r>
            <a:endParaRPr lang="en-US" sz="1350" dirty="0"/>
          </a:p>
        </p:txBody>
      </p:sp>
      <p:sp>
        <p:nvSpPr>
          <p:cNvPr id="17" name="Text 11"/>
          <p:cNvSpPr/>
          <p:nvPr/>
        </p:nvSpPr>
        <p:spPr>
          <a:xfrm>
            <a:off x="5744623" y="3143824"/>
            <a:ext cx="3455789" cy="4536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Rolling return and rolling volatility panels for trend detection.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298897"/>
            <a:ext cx="6145927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Slide 10 – Dashboard Screenshots</a:t>
            </a:r>
            <a:endParaRPr lang="en-US" sz="275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56DA37A-5817-DFD8-53B3-413237031F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3474" y="1122328"/>
            <a:ext cx="5451929" cy="31539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60FA2-09C8-83A0-E205-9F7F27B13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F4FAC4-6361-16F4-0146-58DC06FBA848}"/>
              </a:ext>
            </a:extLst>
          </p:cNvPr>
          <p:cNvSpPr/>
          <p:nvPr/>
        </p:nvSpPr>
        <p:spPr>
          <a:xfrm>
            <a:off x="496119" y="298897"/>
            <a:ext cx="6145927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Slide 11 – Dashboard Screenshots</a:t>
            </a:r>
            <a:endParaRPr lang="en-US" sz="275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995CBF7-9A21-845A-6982-DD2C7E3C65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6134" y="828797"/>
            <a:ext cx="4852692" cy="3961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751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8955D-671C-7261-AA3B-6B8D67BB2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3178C804-8C99-8008-4C1E-A72F3DC9E3B5}"/>
              </a:ext>
            </a:extLst>
          </p:cNvPr>
          <p:cNvSpPr/>
          <p:nvPr/>
        </p:nvSpPr>
        <p:spPr>
          <a:xfrm>
            <a:off x="496119" y="298897"/>
            <a:ext cx="6145927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Slide 12 – Dashboard Screenshots</a:t>
            </a:r>
            <a:endParaRPr lang="en-US" sz="275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BC2C2A9-B4E9-376E-8C3B-6308F0D63C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8459" y="894945"/>
            <a:ext cx="5367082" cy="3736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55453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41872" y="397892"/>
            <a:ext cx="3702112" cy="39454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5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Slide 11 – Key Findings </a:t>
            </a:r>
            <a:endParaRPr lang="en-US" sz="2450" dirty="0"/>
          </a:p>
        </p:txBody>
      </p:sp>
      <p:sp>
        <p:nvSpPr>
          <p:cNvPr id="3" name="Shape 1"/>
          <p:cNvSpPr/>
          <p:nvPr/>
        </p:nvSpPr>
        <p:spPr>
          <a:xfrm>
            <a:off x="1346532" y="1152845"/>
            <a:ext cx="1980679" cy="1478161"/>
          </a:xfrm>
          <a:prstGeom prst="roundRect">
            <a:avLst>
              <a:gd name="adj" fmla="val 1281"/>
            </a:avLst>
          </a:prstGeom>
          <a:solidFill>
            <a:srgbClr val="F0EAE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4" name="Text 2"/>
          <p:cNvSpPr/>
          <p:nvPr/>
        </p:nvSpPr>
        <p:spPr>
          <a:xfrm>
            <a:off x="1472737" y="1250430"/>
            <a:ext cx="1728267" cy="394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Distribution imbalance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472736" y="1719569"/>
            <a:ext cx="1728267" cy="7637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Certain categories dominate fund counts and AUM; ensure category-weighted comparisons to avoid bias.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25663" y="1174035"/>
            <a:ext cx="1980754" cy="1478161"/>
          </a:xfrm>
          <a:prstGeom prst="roundRect">
            <a:avLst>
              <a:gd name="adj" fmla="val 1281"/>
            </a:avLst>
          </a:prstGeom>
          <a:solidFill>
            <a:srgbClr val="F0EAEA"/>
          </a:solidFill>
          <a:ln/>
        </p:spPr>
      </p:sp>
      <p:sp>
        <p:nvSpPr>
          <p:cNvPr id="7" name="Text 5"/>
          <p:cNvSpPr/>
          <p:nvPr/>
        </p:nvSpPr>
        <p:spPr>
          <a:xfrm>
            <a:off x="5551869" y="1248774"/>
            <a:ext cx="1728341" cy="3945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Performance dispersion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551869" y="1734390"/>
            <a:ext cx="1728341" cy="7637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Returns and risk vary widely across and within categories — composite metrics improve signal detection.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346457" y="2928850"/>
            <a:ext cx="1980754" cy="1478161"/>
          </a:xfrm>
          <a:prstGeom prst="roundRect">
            <a:avLst>
              <a:gd name="adj" fmla="val 1281"/>
            </a:avLst>
          </a:prstGeom>
          <a:solidFill>
            <a:srgbClr val="F0EAEA"/>
          </a:solidFill>
          <a:ln/>
        </p:spPr>
      </p:sp>
      <p:sp>
        <p:nvSpPr>
          <p:cNvPr id="10" name="Text 8"/>
          <p:cNvSpPr/>
          <p:nvPr/>
        </p:nvSpPr>
        <p:spPr>
          <a:xfrm>
            <a:off x="1472737" y="3050079"/>
            <a:ext cx="1578248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Risk heterogeneity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472737" y="3456562"/>
            <a:ext cx="1728341" cy="7637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Tail-risk and drawdowns materially affect grade assignments; include scenario analysis in reviews.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25663" y="2928850"/>
            <a:ext cx="1980754" cy="1478161"/>
          </a:xfrm>
          <a:prstGeom prst="roundRect">
            <a:avLst>
              <a:gd name="adj" fmla="val 1281"/>
            </a:avLst>
          </a:prstGeom>
          <a:solidFill>
            <a:srgbClr val="F0EAEA"/>
          </a:solidFill>
          <a:ln/>
        </p:spPr>
      </p:sp>
      <p:sp>
        <p:nvSpPr>
          <p:cNvPr id="13" name="Text 11"/>
          <p:cNvSpPr/>
          <p:nvPr/>
        </p:nvSpPr>
        <p:spPr>
          <a:xfrm>
            <a:off x="5551869" y="3050079"/>
            <a:ext cx="1578248" cy="1972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61615C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Dashboard value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594660" y="3456562"/>
            <a:ext cx="1728341" cy="76378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6000"/>
              </a:lnSpc>
              <a:buNone/>
            </a:pPr>
            <a:r>
              <a:rPr lang="en-US" sz="9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Visualisation and filters significantly accelerate hypothesis testing and reporting cadence.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41871" y="4649651"/>
            <a:ext cx="8260259" cy="9451"/>
          </a:xfrm>
          <a:prstGeom prst="rect">
            <a:avLst/>
          </a:prstGeom>
          <a:solidFill>
            <a:srgbClr val="61615C">
              <a:alpha val="50000"/>
            </a:srgbClr>
          </a:solidFill>
          <a:ln/>
        </p:spPr>
      </p:sp>
      <p:sp>
        <p:nvSpPr>
          <p:cNvPr id="19" name="Text 17"/>
          <p:cNvSpPr/>
          <p:nvPr/>
        </p:nvSpPr>
        <p:spPr>
          <a:xfrm>
            <a:off x="441871" y="4554662"/>
            <a:ext cx="8702129" cy="1909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6000"/>
              </a:lnSpc>
              <a:buNone/>
            </a:pP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CE323-E084-25FF-E546-70804A365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4A30123-BA50-AEE8-4294-D29C6972C875}"/>
              </a:ext>
            </a:extLst>
          </p:cNvPr>
          <p:cNvSpPr/>
          <p:nvPr/>
        </p:nvSpPr>
        <p:spPr>
          <a:xfrm>
            <a:off x="3499457" y="66342"/>
            <a:ext cx="1289609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Slide 12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D506AD7-AD89-3E29-5FC0-92C899404228}"/>
              </a:ext>
            </a:extLst>
          </p:cNvPr>
          <p:cNvSpPr/>
          <p:nvPr/>
        </p:nvSpPr>
        <p:spPr>
          <a:xfrm>
            <a:off x="434132" y="994470"/>
            <a:ext cx="8709868" cy="148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750" dirty="0">
                <a:solidFill>
                  <a:srgbClr val="61615C"/>
                </a:solidFill>
                <a:latin typeface="Tomorrow" pitchFamily="34" charset="0"/>
                <a:ea typeface="Tomorrow" pitchFamily="34" charset="-122"/>
                <a:cs typeface="Tomorrow" pitchFamily="34" charset="-120"/>
              </a:rPr>
              <a:t> </a:t>
            </a:r>
            <a:endParaRPr lang="en-US" sz="7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B22CEAC-A13B-C967-8680-A4B23D5FA404}"/>
              </a:ext>
            </a:extLst>
          </p:cNvPr>
          <p:cNvSpPr/>
          <p:nvPr/>
        </p:nvSpPr>
        <p:spPr>
          <a:xfrm>
            <a:off x="3565605" y="1633854"/>
            <a:ext cx="1289609" cy="2342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0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3300DB1E-3581-DEAA-0B53-4721F9ECEA45}"/>
              </a:ext>
            </a:extLst>
          </p:cNvPr>
          <p:cNvSpPr/>
          <p:nvPr/>
        </p:nvSpPr>
        <p:spPr>
          <a:xfrm>
            <a:off x="434132" y="4651250"/>
            <a:ext cx="8275737" cy="9302"/>
          </a:xfrm>
          <a:prstGeom prst="rect">
            <a:avLst/>
          </a:prstGeom>
          <a:solidFill>
            <a:srgbClr val="61615C">
              <a:alpha val="50000"/>
            </a:srgbClr>
          </a:solidFill>
          <a:ln/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58B6D4BE-E6FE-EAC8-8F7E-742128421F36}"/>
              </a:ext>
            </a:extLst>
          </p:cNvPr>
          <p:cNvSpPr/>
          <p:nvPr/>
        </p:nvSpPr>
        <p:spPr>
          <a:xfrm>
            <a:off x="434132" y="4567535"/>
            <a:ext cx="8709868" cy="18603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endParaRPr lang="en-US" sz="95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CF1ED-1510-F884-7D40-BB79874FF7FA}"/>
              </a:ext>
            </a:extLst>
          </p:cNvPr>
          <p:cNvSpPr txBox="1"/>
          <p:nvPr/>
        </p:nvSpPr>
        <p:spPr>
          <a:xfrm>
            <a:off x="968875" y="3432922"/>
            <a:ext cx="7272397" cy="3662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dirty="0">
                <a:solidFill>
                  <a:srgbClr val="1D1D1B"/>
                </a:solidFill>
                <a:latin typeface="Tomorrow SemiBold" pitchFamily="34" charset="0"/>
                <a:ea typeface="Tomorrow SemiBold" pitchFamily="34" charset="-122"/>
                <a:cs typeface="Tomorrow SemiBold" pitchFamily="34" charset="-120"/>
              </a:rPr>
              <a:t>BLUESTOCK MUTUAL FUND ANALYTICS CAPSTONE PROJECT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8347522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824</Words>
  <Application>Microsoft Office PowerPoint</Application>
  <PresentationFormat>On-screen Show (16:9)</PresentationFormat>
  <Paragraphs>123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Tomorrow Light</vt:lpstr>
      <vt:lpstr>Tomorrow SemiBold</vt:lpstr>
      <vt:lpstr>Tomorrow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Mugilan M</dc:creator>
  <cp:lastModifiedBy>Mugilan M</cp:lastModifiedBy>
  <cp:revision>2</cp:revision>
  <dcterms:created xsi:type="dcterms:W3CDTF">2026-06-10T11:21:16Z</dcterms:created>
  <dcterms:modified xsi:type="dcterms:W3CDTF">2026-06-10T11:50:55Z</dcterms:modified>
</cp:coreProperties>
</file>